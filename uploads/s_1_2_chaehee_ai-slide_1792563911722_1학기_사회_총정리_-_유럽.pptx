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Noto Sans KR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373d4f12-f04c-4b82-8b8a-11bc9ad0d597.fntdata" /><ns0:Relationship Id="rIdFont21" Type="http://schemas.openxmlformats.org/officeDocument/2006/relationships/font" Target="fonts/5f0372eb-d859-4098-9b75-3dc904eefae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1514475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39461" y="2943225"/>
            <a:ext cx="8112928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b="1" sz="6000" i="0" u="none">
                <a:solidFill>
                  <a:srgbClr val="F8FAFC"/>
                </a:solidFill>
                <a:latin typeface="Noto Sans KR"/>
              </a:rPr>
              <a:t>1학기 사회 총정리</a:t>
            </a:r>
            <a:r>
              <a:t>
</a:t>
            </a:r>
            <a:r>
              <a:rPr b="1" sz="6000" i="0" u="none">
                <a:solidFill>
                  <a:srgbClr val="38BDF8"/>
                </a:solidFill>
                <a:latin typeface="Noto Sans KR"/>
              </a:rPr>
              <a:t>"유럽을 한눈에!"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9562" y="4810125"/>
            <a:ext cx="5492874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Noto Sans KR"/>
              </a:rPr>
              <a:t>지형부터 기후, 산업, 문화까지 핵심만 콕콕!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3557587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17232" y="2443162"/>
            <a:ext cx="7157535" cy="828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Noto Sans KR"/>
              </a:rPr>
              <a:t>01. 유럽의 </a:t>
            </a:r>
            <a:r>
              <a:rPr b="1" sz="4800" i="0" u="none">
                <a:solidFill>
                  <a:srgbClr val="F8FAFC"/>
                </a:solidFill>
                <a:latin typeface="Noto Sans KR"/>
              </a:rPr>
              <a:t>자연환경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87649" y="3881437"/>
            <a:ext cx="68167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Noto Sans KR"/>
              </a:rPr>
              <a:t>왜 유럽은 나라마다 풍경이 다를까요?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1756"/>
            <a:ext cx="177849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43597"/>
            <a:ext cx="177849" cy="257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65439"/>
            <a:ext cx="177849" cy="2571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903535"/>
            <a:ext cx="7620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04268"/>
            <a:ext cx="5334000" cy="400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550" y="2023318"/>
            <a:ext cx="5295900" cy="396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903535"/>
            <a:ext cx="11430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1F5F9"/>
                </a:solidFill>
                <a:latin typeface="Noto Sans KR"/>
              </a:rPr>
              <a:t>남부의 산맥과 북부의 평원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2621756"/>
            <a:ext cx="50482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F8FAFC"/>
                </a:solidFill>
                <a:latin typeface="Noto Sans KR"/>
              </a:rPr>
              <a:t>남부 유럽:</a:t>
            </a:r>
            <a:r>
              <a:rPr b="0" sz="1800" i="0" u="none">
                <a:solidFill>
                  <a:srgbClr val="F8FAFC"/>
                </a:solidFill>
                <a:latin typeface="Noto Sans KR"/>
              </a:rPr>
              <a:t> 험준한 알프스 산맥이 병풍처럼 둘러싸여 있어 지형이 높고 험합니다.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543597"/>
            <a:ext cx="50482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F8FAFC"/>
                </a:solidFill>
                <a:latin typeface="Noto Sans KR"/>
              </a:rPr>
              <a:t>북부/서부 유럽:</a:t>
            </a:r>
            <a:r>
              <a:rPr b="0" sz="1800" i="0" u="none">
                <a:solidFill>
                  <a:srgbClr val="F8FAFC"/>
                </a:solidFill>
                <a:latin typeface="Noto Sans KR"/>
              </a:rPr>
              <a:t> 광활한 평야 지대가 펼쳐져 있어 농업과 목축업이 발달했습니다.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465439"/>
            <a:ext cx="50482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1800" i="0" u="none">
                <a:solidFill>
                  <a:srgbClr val="F8FAFC"/>
                </a:solidFill>
                <a:latin typeface="Noto Sans KR"/>
              </a:rPr>
              <a:t>복잡한 해안선:</a:t>
            </a:r>
            <a:r>
              <a:rPr b="0" sz="1800" i="0" u="none">
                <a:solidFill>
                  <a:srgbClr val="F8FAFC"/>
                </a:solidFill>
                <a:latin typeface="Noto Sans KR"/>
              </a:rPr>
              <a:t> 피오르(북유럽)와 리아스식 해안으로 항구가 발달하기 유리합니다.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03535"/>
            <a:ext cx="7620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680543"/>
            <a:ext cx="5381625" cy="2647950"/>
          </a:xfrm>
          <a:prstGeom prst="roundRect">
            <a:avLst>
              <a:gd name="adj" fmla="val 5755"/>
            </a:avLst>
          </a:prstGeom>
          <a:solidFill>
            <a:srgbClr val="1A2436"/>
          </a:solidFill>
          <a:ln w="9525">
            <a:solidFill>
              <a:srgbClr val="17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38875" y="2680543"/>
            <a:ext cx="5381625" cy="2647950"/>
          </a:xfrm>
          <a:prstGeom prst="roundRect">
            <a:avLst>
              <a:gd name="adj" fmla="val 5755"/>
            </a:avLst>
          </a:prstGeom>
          <a:solidFill>
            <a:srgbClr val="1A2436"/>
          </a:solidFill>
          <a:ln w="9525">
            <a:solidFill>
              <a:srgbClr val="17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079" y="2975818"/>
            <a:ext cx="296465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454" y="2975818"/>
            <a:ext cx="296465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903535"/>
            <a:ext cx="11430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1F5F9"/>
                </a:solidFill>
                <a:latin typeface="Noto Sans KR"/>
              </a:rPr>
              <a:t>서로 다른 매력의 두 기후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69" y="3814018"/>
            <a:ext cx="6288285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8FAFC"/>
                </a:solidFill>
                <a:latin typeface="Noto Sans KR"/>
              </a:rPr>
              <a:t>서안 해양성 기후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890" y="4347418"/>
            <a:ext cx="5988843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Noto Sans KR"/>
              </a:rPr>
              <a:t>북대서양 해류와 편서풍의 영향으로 일 년 내내 비가 고르게 내리고 겨울에도 따뜻합니다. (영국, 프랑스 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1320" y="3814018"/>
            <a:ext cx="6256734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8FAFC"/>
                </a:solidFill>
                <a:latin typeface="Noto Sans KR"/>
              </a:rPr>
              <a:t>지중해성 기후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5265" y="4347418"/>
            <a:ext cx="5988843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Noto Sans KR"/>
              </a:rPr>
              <a:t>여름은 덥고 건조하며, 겨울은 온화하고 습합니다. 수목 농업(올리브, 포도)이 발달했습니다. (이탈리아, 그리스 등)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3557587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17232" y="2443162"/>
            <a:ext cx="7157535" cy="828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Noto Sans KR"/>
              </a:rPr>
              <a:t>02. 유럽의 </a:t>
            </a:r>
            <a:r>
              <a:rPr b="1" sz="4800" i="0" u="none">
                <a:solidFill>
                  <a:srgbClr val="F8FAFC"/>
                </a:solidFill>
                <a:latin typeface="Noto Sans KR"/>
              </a:rPr>
              <a:t>인문환경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87649" y="3881437"/>
            <a:ext cx="68167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Noto Sans KR"/>
              </a:rPr>
              <a:t>산업의 발전과 통합의 역사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03535"/>
            <a:ext cx="7620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903535"/>
            <a:ext cx="11430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1F5F9"/>
                </a:solidFill>
                <a:latin typeface="Noto Sans KR"/>
              </a:rPr>
              <a:t>전 세계 변화의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882" y="2985343"/>
            <a:ext cx="5297351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b="1" sz="12000" i="0" u="none">
                <a:solidFill>
                  <a:srgbClr val="38BDF8"/>
                </a:solidFill>
                <a:latin typeface="Noto Sans KR"/>
              </a:rPr>
              <a:t>1760s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882" y="4604593"/>
            <a:ext cx="5297351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F8FAFC"/>
                </a:solidFill>
                <a:latin typeface="Noto Sans KR"/>
              </a:rPr>
              <a:t>산업 혁명의 시작 (영국)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5733" y="3410247"/>
            <a:ext cx="4857750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b="0" sz="1950" i="0" u="none">
                <a:solidFill>
                  <a:srgbClr val="CBD5E1"/>
                </a:solidFill>
                <a:latin typeface="Noto Sans KR"/>
              </a:rPr>
              <a:t>증기 기관의 발명으로 대량 생산이 가능해졌고, 유럽은 전 세계 경제와 산업의 중심지로 떠올랐습니다.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03535"/>
            <a:ext cx="7620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22685"/>
            <a:ext cx="11049000" cy="45638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903535"/>
            <a:ext cx="11430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1F5F9"/>
                </a:solidFill>
                <a:latin typeface="Noto Sans KR"/>
              </a:rPr>
              <a:t>유럽 연합(EU)의 경제적 위상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03535"/>
            <a:ext cx="7620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337643"/>
            <a:ext cx="3492549" cy="3333750"/>
          </a:xfrm>
          <a:prstGeom prst="roundRect">
            <a:avLst>
              <a:gd name="adj" fmla="val 4571"/>
            </a:avLst>
          </a:prstGeom>
          <a:solidFill>
            <a:srgbClr val="1A2436"/>
          </a:solidFill>
          <a:ln w="9525">
            <a:solidFill>
              <a:srgbClr val="17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9799" y="2337643"/>
            <a:ext cx="3492549" cy="3333750"/>
          </a:xfrm>
          <a:prstGeom prst="roundRect">
            <a:avLst>
              <a:gd name="adj" fmla="val 4571"/>
            </a:avLst>
          </a:prstGeom>
          <a:solidFill>
            <a:srgbClr val="1A2436"/>
          </a:solidFill>
          <a:ln w="9525">
            <a:solidFill>
              <a:srgbClr val="17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28099" y="2337643"/>
            <a:ext cx="3492549" cy="3333750"/>
          </a:xfrm>
          <a:prstGeom prst="roundRect">
            <a:avLst>
              <a:gd name="adj" fmla="val 4571"/>
            </a:avLst>
          </a:prstGeom>
          <a:solidFill>
            <a:srgbClr val="1A2436"/>
          </a:solidFill>
          <a:ln w="9525">
            <a:solidFill>
              <a:srgbClr val="173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47168"/>
            <a:ext cx="3473499" cy="265167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324" y="2347168"/>
            <a:ext cx="3473499" cy="265167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624" y="2347168"/>
            <a:ext cx="3473499" cy="26516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903535"/>
            <a:ext cx="11430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1F5F9"/>
                </a:solidFill>
                <a:latin typeface="Noto Sans KR"/>
              </a:rPr>
              <a:t>역사와 현대가 공존하는 문화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712" y="5179814"/>
            <a:ext cx="4056124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Noto Sans KR"/>
              </a:rPr>
              <a:t>남부: 라틴 문화권 (로마)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8012" y="5179814"/>
            <a:ext cx="4056124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Noto Sans KR"/>
              </a:rPr>
              <a:t>서부: 게르만 문화권 (파리)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6311" y="5179814"/>
            <a:ext cx="4056124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Noto Sans KR"/>
              </a:rPr>
              <a:t>현대: 첨단 기술과 교통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03535"/>
            <a:ext cx="7620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09900" y="2661493"/>
            <a:ext cx="6828978" cy="333375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09900" y="3185368"/>
            <a:ext cx="6828978" cy="333375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09900" y="3709243"/>
            <a:ext cx="6828978" cy="333375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09900" y="4233118"/>
            <a:ext cx="6828978" cy="333375"/>
          </a:xfrm>
          <a:prstGeom prst="roundRect">
            <a:avLst>
              <a:gd name="adj" fmla="val 2857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09900" y="2661493"/>
            <a:ext cx="6282630" cy="333375"/>
          </a:xfrm>
          <a:prstGeom prst="roundRect">
            <a:avLst>
              <a:gd name="adj" fmla="val 28571"/>
            </a:avLst>
          </a:prstGeom>
          <a:solidFill>
            <a:srgbClr val="5DA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09900" y="3185368"/>
            <a:ext cx="5804594" cy="333375"/>
          </a:xfrm>
          <a:prstGeom prst="roundRect">
            <a:avLst>
              <a:gd name="adj" fmla="val 28571"/>
            </a:avLst>
          </a:prstGeom>
          <a:solidFill>
            <a:srgbClr val="5DA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09900" y="3709243"/>
            <a:ext cx="5326558" cy="333375"/>
          </a:xfrm>
          <a:prstGeom prst="roundRect">
            <a:avLst>
              <a:gd name="adj" fmla="val 28571"/>
            </a:avLst>
          </a:prstGeom>
          <a:solidFill>
            <a:srgbClr val="5DA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09900" y="4233118"/>
            <a:ext cx="4780210" cy="333375"/>
          </a:xfrm>
          <a:prstGeom prst="roundRect">
            <a:avLst>
              <a:gd name="adj" fmla="val 28571"/>
            </a:avLst>
          </a:prstGeom>
          <a:solidFill>
            <a:srgbClr val="5DA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903535"/>
            <a:ext cx="11430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1F5F9"/>
                </a:solidFill>
                <a:latin typeface="Noto Sans KR"/>
              </a:rPr>
              <a:t>오늘날의 고민: 고령화 사회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404812" y="4947493"/>
            <a:ext cx="13001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Noto Sans KR"/>
              </a:rPr>
              <a:t>*65세 이상 인구 비율(2023 추정치) - 노동력 부족과 복지 부담 해결이 주요 과제입니다.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0650" y="2699593"/>
            <a:ext cx="14287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500" i="0" u="none">
                <a:solidFill>
                  <a:srgbClr val="F8FAFC"/>
                </a:solidFill>
                <a:latin typeface="Noto Sans KR"/>
              </a:rPr>
              <a:t>이탈리아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9378" y="2728168"/>
            <a:ext cx="77197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Noto Sans KR"/>
              </a:rPr>
              <a:t>24.1%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0650" y="3223468"/>
            <a:ext cx="14287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500" i="0" u="none">
                <a:solidFill>
                  <a:srgbClr val="F8FAFC"/>
                </a:solidFill>
                <a:latin typeface="Noto Sans KR"/>
              </a:rPr>
              <a:t>독일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9378" y="3252043"/>
            <a:ext cx="77197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Noto Sans KR"/>
              </a:rPr>
              <a:t>22.4%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0650" y="3747343"/>
            <a:ext cx="14287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500" i="0" u="none">
                <a:solidFill>
                  <a:srgbClr val="F8FAFC"/>
                </a:solidFill>
                <a:latin typeface="Noto Sans KR"/>
              </a:rPr>
              <a:t>프랑스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29378" y="3775918"/>
            <a:ext cx="77197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Noto Sans KR"/>
              </a:rPr>
              <a:t>21.3%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0650" y="4271218"/>
            <a:ext cx="14287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500" i="0" u="none">
                <a:solidFill>
                  <a:srgbClr val="F8FAFC"/>
                </a:solidFill>
                <a:latin typeface="Noto Sans KR"/>
              </a:rPr>
              <a:t>영국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29378" y="4299793"/>
            <a:ext cx="77197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Noto Sans KR"/>
              </a:rPr>
              <a:t>19.2%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903535"/>
            <a:ext cx="76200" cy="533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896320"/>
            <a:ext cx="11049000" cy="38100"/>
          </a:xfrm>
          <a:prstGeom prst="rect">
            <a:avLst/>
          </a:prstGeom>
          <a:solidFill>
            <a:srgbClr val="38BDF8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903535"/>
            <a:ext cx="114300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1F5F9"/>
                </a:solidFill>
                <a:latin typeface="Noto Sans KR"/>
              </a:rPr>
              <a:t>유럽 통합의 역사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1709" y="4277320"/>
            <a:ext cx="319024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F8FAFC"/>
                </a:solidFill>
                <a:latin typeface="Noto Sans KR"/>
              </a:rPr>
              <a:t>1951년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667" y="4703266"/>
            <a:ext cx="303832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8FAFC"/>
                </a:solidFill>
                <a:latin typeface="Noto Sans KR"/>
              </a:rPr>
              <a:t>유럽 석탄 철강 공동체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Noto Sans KR"/>
              </a:rPr>
              <a:t> (ECSC) 출범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4389" y="4277320"/>
            <a:ext cx="319024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F8FAFC"/>
                </a:solidFill>
                <a:latin typeface="Noto Sans KR"/>
              </a:rPr>
              <a:t>1967년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0347" y="4703266"/>
            <a:ext cx="303832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8FAFC"/>
                </a:solidFill>
                <a:latin typeface="Noto Sans KR"/>
              </a:rPr>
              <a:t>유럽 공동체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Noto Sans KR"/>
              </a:rPr>
              <a:t> (EC) 형성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7070" y="4277320"/>
            <a:ext cx="319024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F8FAFC"/>
                </a:solidFill>
                <a:latin typeface="Noto Sans KR"/>
              </a:rPr>
              <a:t>1993년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3028" y="4703266"/>
            <a:ext cx="303832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Noto Sans KR"/>
              </a:rPr>
              <a:t>유럽 연합(EU)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Noto Sans KR"/>
              </a:rPr>
              <a:t> 공식 출범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9750" y="4277320"/>
            <a:ext cx="319024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F8FAFC"/>
                </a:solidFill>
                <a:latin typeface="Noto Sans KR"/>
              </a:rPr>
              <a:t>현재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5708" y="4703266"/>
            <a:ext cx="303832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8FAFC"/>
                </a:solidFill>
                <a:latin typeface="Noto Sans KR"/>
              </a:rPr>
              <a:t>정치·경제·사회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Noto Sans KR"/>
              </a:rPr>
              <a:t> 통합 가속화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53482" y="38296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163" y="38296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98843" y="38296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71524" y="38296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3557587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5935" y="2443162"/>
            <a:ext cx="9780128" cy="828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Noto Sans KR"/>
              </a:rPr>
              <a:t>03. </a:t>
            </a:r>
            <a:r>
              <a:rPr b="1" sz="4800" i="0" u="none">
                <a:solidFill>
                  <a:srgbClr val="F8FAFC"/>
                </a:solidFill>
                <a:latin typeface="Noto Sans KR"/>
              </a:rPr>
              <a:t>세계 시민</a:t>
            </a:r>
            <a:r>
              <a:rPr b="1" sz="4800" i="0" u="none">
                <a:solidFill>
                  <a:srgbClr val="F8FAFC"/>
                </a:solidFill>
                <a:latin typeface="Noto Sans KR"/>
              </a:rPr>
              <a:t>으로 성장하기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8795" y="3881437"/>
            <a:ext cx="9314408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Noto Sans KR"/>
              </a:rPr>
              <a:t>다른 지역의 문화도 존중하는 태도를 가져요!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43400" y="4737794"/>
            <a:ext cx="3505200" cy="990600"/>
          </a:xfrm>
          <a:prstGeom prst="roundRect">
            <a:avLst>
              <a:gd name="adj" fmla="val 9615"/>
            </a:avLst>
          </a:prstGeom>
          <a:noFill/>
          <a:ln w="9525">
            <a:solidFill>
              <a:srgbClr val="26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87" y="1129605"/>
            <a:ext cx="1190625" cy="952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33342" y="2557462"/>
            <a:ext cx="252531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Noto Sans KR"/>
              </a:rPr>
              <a:t>궁금한 점이 있나요?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4078" y="3270944"/>
            <a:ext cx="4083843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Noto Sans KR"/>
              </a:rPr>
              <a:t>사회 공부는 세상을 보는 창입니다.</a:t>
            </a:r>
            <a:r>
              <a:t>
</a:t>
            </a:r>
            <a:r>
              <a:rPr b="0" sz="1800" i="0" u="none">
                <a:solidFill>
                  <a:srgbClr val="94A3B8"/>
                </a:solidFill>
                <a:latin typeface="Noto Sans KR"/>
              </a:rPr>
              <a:t> 여러분의 질문을 환영합니다!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5281" y="5109269"/>
            <a:ext cx="38814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8FAFC"/>
                </a:solidFill>
                <a:latin typeface="Noto Sans KR"/>
              </a:rPr>
              <a:t>사회 선생님: (여러분의 성함을 넣어주세요)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